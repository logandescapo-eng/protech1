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39" autoAdjust="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64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6921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Introduce yourself, the programme, and the project title. Mention this is an 8–10 minute defence of a full-stack marketplace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~8–10 minute defence. Backup slides follow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to 60 seconds. Make the problem relatable.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formulas. Charts on next slides show worker job thresholds and platform crossover.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Shaded red = deficit, green = surplus. Dotted line = phased fixed-cost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 $200 avg job: Pro ≈15 jobs, Premium ≈15 jobs. Featured placement adds upside.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each tier. Emphasise Nginx offloads static files, Django handles business logic, PostgreSQL is source of truth, Redis speeds up sessions and worker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differentiator. Mention Decimal + atomic DB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rubric table is in the technical report Appendix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the panel. Offer live demo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Pause for questions. Have demo ready at http://localhost.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0"/>
            <a:ext cx="111858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ProTech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31720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BEAFE"/>
                </a:solidFill>
                <a:latin typeface="Calibri"/>
              </a:rPr>
              <a:t>Professional Services Marketplace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063240"/>
            <a:ext cx="1118585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End-of-Year Master's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Calibri"/>
              </a:rPr>
              <a:t>IT Innovation in Business — Master's Degree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9319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DBEAFE"/>
                </a:solidFill>
                <a:latin typeface="Calibri"/>
              </a:rPr>
              <a:t>Web Technology in Business · Web Application Development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572000"/>
            <a:ext cx="393192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47548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Manye Patrice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6636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DBEAFE"/>
                </a:solidFill>
                <a:latin typeface="Calibri"/>
              </a:rPr>
              <a:t>June 09,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github.com/logandescapo-eng/protech1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1.  Introduction, problem &amp; goals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2.  Business model &amp; growth projections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3.  System design &amp; architecture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4.  Implementation &amp; security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5.  Live demo (screenshots)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6.  Testing, deployment &amp; rubric alignment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7.  Conclusion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 of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Introduction &amp; 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3 of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ProTech — a marketplace connecting clients with skilled service workers.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End-of-year master's project: IT Innovation in Business.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Problems: poor discovery, payment risk, fragmented coordination, no admin oversight.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Solution: one Django platform with booking, escrow, reviews, and RBAC.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Clone-and-run via Docker for academic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4 of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Goals &amp; Business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Technical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Project goals: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Working client + worker marketplace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Django, Docker, Redis, tests, logging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Escrow with platform commission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Django Admin CMS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Who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Clients — search, book, pay safely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Workers — profile, jobs, wallet payouts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Platform — commission + subscriptions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5 of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Business Model &amp;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6 of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Business Model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Hybrid revenue: transaction commission + worker subscriptions.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Clients pay no membership — job price held in escrow until completion.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Commission implemented in escrow/services.py (default 5%).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Subscriptions (Starter / Professional / Premium) specified for production.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Charts below are illustrative projections, not audited forecasts.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7 of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Revenue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Per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Monthly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Commission (on job completion):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Micro (&lt;$50): 8% or min $3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Standard: 5%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Commercial (&gt;$500): 3.5%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Worker subscriptions: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Starter — free, basic listing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Professional — $29/mo, −1% commission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Premium — $59/mo, featured 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8 of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Break-Even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Per worker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Platform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Worker plans (commission savings):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Jobs = Subscription ÷ (Avg job × Discount %)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Professional ($29): 14 jobs/mo @ $200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Premium ($59): 15 jobs/mo @ $200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Before ranking / featured-placement uplift.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Platform operating break-even: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Fixed costs: Bootstrap scenario — Months 1–6: $3,200 · 7–12: $3,800 · 13–24: $4,500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Variable: 2% of GMV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Break-even: Month 25 (illustrative)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Month 24 margin: $-27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9 of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Platform Break-Even</a:t>
            </a:r>
          </a:p>
        </p:txBody>
      </p:sp>
      <p:pic>
        <p:nvPicPr>
          <p:cNvPr id="4" name="Picture 3" descr="break_even_plat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512" y="1252728"/>
            <a:ext cx="8094670" cy="46255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Revenue vs operating cost — break-even at Month 25 (illustrative)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10 of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Worker Subscription Break-Even</a:t>
            </a:r>
          </a:p>
        </p:txBody>
      </p:sp>
      <p:pic>
        <p:nvPicPr>
          <p:cNvPr id="4" name="Picture 3" descr="break_even_wo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560" y="1234441"/>
            <a:ext cx="9488573" cy="4631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Jobs per month to offset plan cost via commission savings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11 of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Traffic Growth Projection</a:t>
            </a:r>
          </a:p>
        </p:txBody>
      </p:sp>
      <p:pic>
        <p:nvPicPr>
          <p:cNvPr id="4" name="Picture 3" descr="traffic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51" y="1252728"/>
            <a:ext cx="8295392" cy="46348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Month 24: ~9,500 visitors/mo (illustrative)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12 of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Revenue Growth (MRR)</a:t>
            </a:r>
          </a:p>
        </p:txBody>
      </p:sp>
      <p:pic>
        <p:nvPicPr>
          <p:cNvPr id="4" name="Picture 3" descr="revenue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614" y="1252728"/>
            <a:ext cx="8351148" cy="4666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Month 24: ~$50k MRR — commission + subscriptions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13 of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Bookings &amp; GMV</a:t>
            </a:r>
          </a:p>
        </p:txBody>
      </p:sp>
      <p:pic>
        <p:nvPicPr>
          <p:cNvPr id="4" name="Picture 3" descr="bookings_gmv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697" y="1252728"/>
            <a:ext cx="8217334" cy="45912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Completed jobs and gross merchandise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14 of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System Design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15 of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BEAFE"/>
                </a:solidFill>
                <a:latin typeface="Calibri"/>
              </a:rPr>
              <a:t>Three-tier design — Docker Compose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234440"/>
            <a:ext cx="9144000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132588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139903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Browser → Nginx (port 80) → static files &amp; reverse proxy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121408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2468880"/>
            <a:ext cx="9144000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37360" y="25603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3347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Gunicorn → Django 5.2  |  users · bookings · reviews · escrow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3355848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703320"/>
            <a:ext cx="9144000" cy="8686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37360" y="379476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Data &amp;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386791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PostgreSQL 15  +  Redis 7 (sessions &amp; cache)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590288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937760"/>
            <a:ext cx="9144000" cy="8686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50292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Cross-cutting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510235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RBAC · Escrow ledger · Logging · Django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16 of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3142467"/>
              </p:ext>
            </p:extLst>
          </p:nvPr>
        </p:nvGraphicFramePr>
        <p:xfrm>
          <a:off x="502920" y="1234436"/>
          <a:ext cx="11185854" cy="3348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39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9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1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811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Role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1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Back-end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Django 5.2.15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ORM, auth, admin, security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1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Front-end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Jinja2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Server-rendered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1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PostgreSQL 15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Relational data + escrow ledger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1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Redis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Sessions and worker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1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Deploy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Docker Compose + Nginx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rPr dirty="0"/>
                        <a:t>Four-service stack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17 of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Escrow Payment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1. Client deposits demo funds → UserWallet.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2. Client books worker → Booking (pending).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3. Client funds escrow → EscrowHold created.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4. Worker completes job → release_escrow() runs.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5. Worker paid net of platform fee; transactions logged.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6. Cancel → refund_escrow() returns funds to client.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18 of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Implementation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19 of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Security &amp;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Django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Security: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Email login, PBKDF2 hashing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CSRF, ORM, XSS escaping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RBAC (@user_type_required)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Secrets in .env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Code structure: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users/ bookings/ reviews/ escrow/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escrow/services.py — all money logic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Redis cache (300s worker search)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Logging → stdout + django.log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20 of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Application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21 of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Figure 1 — Landing Page (Home)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5855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[ INSERT SCREENSHOT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E3A8A"/>
                </a:solidFill>
                <a:latin typeface="Calibri"/>
              </a:rPr>
              <a:t>URL: http://localhost/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PowerPoint: Insert → Pictures, or drag image into the dashed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22 of 31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1" y="1252728"/>
            <a:ext cx="11185854" cy="41422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Figure 2 — Client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5855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[ INSERT SCREENSHOT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E3A8A"/>
                </a:solidFill>
                <a:latin typeface="Calibri"/>
              </a:rPr>
              <a:t>URL: http://localhost/user/dashboard/   |   Login: john@example.com / password123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PowerPoint: Insert → Pictures, or drag image into the dashed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23 of 31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1252728"/>
            <a:ext cx="11185855" cy="414223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Figure 3 — Worker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5855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[ INSERT SCREENSHOT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E3A8A"/>
                </a:solidFill>
                <a:latin typeface="Calibri"/>
              </a:rPr>
              <a:t>URL: http://localhost/worker/dashboard/   |   Login: mike@example.com / password123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PowerPoint: Insert → Pictures, or drag image into the dashed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24 of 31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1252728"/>
            <a:ext cx="11185855" cy="41422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Figure 4 — Escrow Payment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5855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[ INSERT SCREENSHOT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E3A8A"/>
                </a:solidFill>
                <a:latin typeface="Calibri"/>
              </a:rPr>
              <a:t>URL: http://localhost/booking/&lt;id&gt;/escrow/   |   Login: john@example.com / password123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PowerPoint: Insert → Pictures, or drag image into the dashed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25 of 31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1252728"/>
            <a:ext cx="11185855" cy="414223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Testing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26 of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Testing, Deployment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17 automated tests pass (python manage.py test).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GitHub Actions: flake8, migrate, test, /health/ on every push.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Docker: db · redis · backend · nginx — docker compose up --build.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Demo: john@example.com / mike@example.com — password123.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Health: http://localhost/health/ → {"status": "ok"}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27 of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Rubric Alignment (Summary)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5943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Django + templates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templates/, Jinja2 env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Auth &amp; RBAC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users/decorators.py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Docker + Redis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docker-compose.yml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Tests +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17 tests, ci.yml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Logging + security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settings.py, CSRF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28 of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29 of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Lessons, Future Work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234440"/>
            <a:ext cx="5349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Lessons learned: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Domain-split Django apps scale well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Flask→Django needed Jinja2 shim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Escrow needs Decimal + TXNs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Docker entrypoint seeds demo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60020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Conclusion: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Full-stack brief met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Working escrow marketplace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Clear business model + growth path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Ready for live demo &amp;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IT Innovation in Business — Master's Degree  |  Slide 30 of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2044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BEAFE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Manye Patrice  ·  IT Innovation in Business — Master's Degree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github.com/logandescapo-eng/protech1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74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65176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BACKUP 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290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Calibri"/>
              </a:rPr>
              <a:t>Additional material for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DBEAFE"/>
                </a:solidFill>
                <a:latin typeface="Calibri"/>
              </a:rPr>
              <a:t>Hidden from main slideshow — use during Q&amp;A if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User Growth</a:t>
            </a:r>
          </a:p>
        </p:txBody>
      </p:sp>
      <p:pic>
        <p:nvPicPr>
          <p:cNvPr id="4" name="Picture 3" descr="user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51" y="1234440"/>
            <a:ext cx="8295392" cy="46385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Registered client and worker accounts (24 months)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Revenue Mix</a:t>
            </a:r>
          </a:p>
        </p:txBody>
      </p:sp>
      <p:pic>
        <p:nvPicPr>
          <p:cNvPr id="4" name="Picture 3" descr="revenue_mix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317" y="1140550"/>
            <a:ext cx="9377060" cy="45768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Subscription share of MRR after Month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Full Use Case List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5029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Actor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Register &amp; login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Visitor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Reset 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Browse workers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Client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Create booking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Manage booking status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Client / Worker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Fund escrow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UC-09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Release / refund escrow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System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Leave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UC-11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Admin CRUD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Staff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ER Diagram</a:t>
            </a:r>
          </a:p>
        </p:txBody>
      </p:sp>
      <p:pic>
        <p:nvPicPr>
          <p:cNvPr id="4" name="Picture 3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799" y="1090742"/>
            <a:ext cx="6946095" cy="47156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Core database schema (users, bookings, escrow, reviews)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Escrow Sequence</a:t>
            </a:r>
          </a:p>
        </p:txBody>
      </p:sp>
      <p:pic>
        <p:nvPicPr>
          <p:cNvPr id="4" name="Picture 3" descr="escrow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926" y="1234440"/>
            <a:ext cx="7369841" cy="47643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80644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Runtime flow: deposit → book → fund → complete →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Figure 5 — Browse Workers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5855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[ INSERT SCREENSHOT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1185855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dirty="0">
                <a:solidFill>
                  <a:srgbClr val="1E3A8A"/>
                </a:solidFill>
                <a:latin typeface="Calibri"/>
              </a:rPr>
              <a:t>URL: http://localhost/workers/   |   Login: </a:t>
            </a:r>
            <a:r>
              <a:rPr lang="en-US" sz="900" dirty="0" smtClean="0">
                <a:solidFill>
                  <a:srgbClr val="1E3A8A"/>
                </a:solidFill>
                <a:latin typeface="Calibri"/>
              </a:rPr>
              <a:t>patricksmithson881</a:t>
            </a:r>
            <a:r>
              <a:rPr sz="900" b="0" dirty="0" smtClean="0">
                <a:solidFill>
                  <a:srgbClr val="1E3A8A"/>
                </a:solidFill>
                <a:latin typeface="Calibri"/>
              </a:rPr>
              <a:t>.com </a:t>
            </a:r>
            <a:r>
              <a:rPr sz="900" b="0" dirty="0">
                <a:solidFill>
                  <a:srgbClr val="1E3A8A"/>
                </a:solidFill>
                <a:latin typeface="Calibri"/>
              </a:rPr>
              <a:t>/ password123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PowerPoint: Insert → Pictures, or drag image into the dashed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38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1252728"/>
            <a:ext cx="11185854" cy="41422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Figure 6 — Django 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5855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[ INSERT SCREENSHOT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E3A8A"/>
                </a:solidFill>
                <a:latin typeface="Calibri"/>
              </a:rPr>
              <a:t>URL: http://localhost/admin/   |   Login: Superuser account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PowerPoint: Insert → Pictures, or drag image into the dashed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39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2727"/>
            <a:ext cx="11185855" cy="4142233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Full Rubric Alignment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57607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Django + templates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Django 5.2 + Jinja2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templates/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Auth &amp; RBAC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Login, @user_type_required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Password reset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/password-reset/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users/urls.py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Admin CMS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Django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/admin/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CSRF, hashing, .env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settings.py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17 passing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manage.py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Docker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 services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docker-compose.yml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Redis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cache_utils.py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300s worker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Logging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Per-app loggers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logs/django.log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Linting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flake8 + black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ci.yml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Demo wallet only — no live payment provider integrated.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Worker subscriptions specified but not yet coded.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No WebSocket real-time messaging.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17 tests — no browser E2E suite yet.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Growth charts are illustrative, not market research.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8585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BACKUP —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Rochet &amp; Tirole (2003) — two-sided markets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Evans &amp; Schmalensee (2016) — Matchmakers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OWASP Top Ten (2021) — web security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Django, PostgreSQL, Redis, Docker documentation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Fielding (2000); Fowler (2002) — architecture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Manye Patrice  |  BACKUP SLIDE  |  Slide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2117</Words>
  <Application>Microsoft Office PowerPoint</Application>
  <PresentationFormat>Grand écran</PresentationFormat>
  <Paragraphs>345</Paragraphs>
  <Slides>42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LOGAN</cp:lastModifiedBy>
  <cp:revision>3</cp:revision>
  <dcterms:created xsi:type="dcterms:W3CDTF">2013-01-27T09:14:16Z</dcterms:created>
  <dcterms:modified xsi:type="dcterms:W3CDTF">2026-06-09T09:24:49Z</dcterms:modified>
  <cp:category/>
</cp:coreProperties>
</file>